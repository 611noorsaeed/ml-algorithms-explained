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76" autoAdjust="0"/>
    <p:restoredTop sz="96150" autoAdjust="0"/>
  </p:normalViewPr>
  <p:slideViewPr>
    <p:cSldViewPr snapToGrid="0">
      <p:cViewPr varScale="1">
        <p:scale>
          <a:sx n="96" d="100"/>
          <a:sy n="96" d="100"/>
        </p:scale>
        <p:origin x="35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7:21:43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74182-1286-474A-B382-2491F52F3D33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E6E22-E3E7-408B-843F-4649A72B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88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FFBF-9FB8-0347-F993-103435A06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60B19-04A4-12CA-02D4-EBD83F082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FD30-268F-BA6B-3E5E-F5183A834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0A5C-9F2D-89CA-DD0E-BD778D2A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790A9-6BFF-81FE-E483-7F481AB0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930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95C6-982B-F1C2-7B47-F569593EA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F240-549A-3AA4-E098-14A9DCF9B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7472D-536B-28EE-A8F9-169F8A6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741C7-5886-0339-CE95-B67C0684B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8440-B9C5-B9F6-803D-7A73F01D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092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B5AE-8C60-29A4-4741-EA8E4216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950C-7552-940D-B7C0-F1D3F5815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72F1-44DE-E45A-05D9-917DD07D6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6464-7967-7FF3-EB22-1326731E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94037-5D59-48B9-2F60-C77142E0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413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C065-4096-1457-4507-7D76CF22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70DC-A905-0CBC-DF3A-E9D3C1214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905ED-5EA5-E384-8A9B-2146F5420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0B568-153A-473B-F762-C50C4AD06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FF869-F951-1378-6E6F-B1D1F10A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59E02-81AB-6736-6C11-6B110EA1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494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E422-DE25-FB3E-D602-6C30161E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26B15-5FFB-EE07-CB07-1E1C96FDF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E6509-0567-A84C-E852-CB3DE368A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E46E5-6408-C3C0-73BD-96E8520F4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33C01-4EF5-4ADE-A391-5C679D18B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06B55D-79E3-09C6-A38B-F5FA6247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EB79C-1F1C-9814-0C54-32B58CAC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E9A22-C0DD-2A8B-02BD-C6F708C31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583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6E9C-98B1-EAA7-9913-DD10EB813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58F4B-CEA7-9252-8D2B-39F74033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AA27A-9100-266E-EC24-D45AB6C8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B8EB69-6858-33A2-55AB-74A7827F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655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C1DA3-2825-D68F-E2F5-E98AA4AA6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1994D7-299E-F97A-813C-89C53F951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080E-1123-29F8-6D40-AF66A146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265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9086-32CB-B79F-0289-296BEC18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BA476-5738-509E-5942-D7ECC7E35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D3AC1-729E-26C2-C6CE-FCAA43100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594F1-C501-1713-3D1D-4FB9D85A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B3E38-B7A2-11F3-4932-5B2763519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B2176-E390-5BAA-EE9A-DBA73FA9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915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7C59-72A5-7A02-0338-E19D652A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D0DCC-9304-5251-FF08-09D87A055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55A4C-5EC8-141A-695D-A2214122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37C7A-F9B9-B0D1-1303-71BC1FD3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A52B2-5060-4E8C-303D-5872BF2F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C233C-3162-8856-1DB6-9FF80D72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33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633E-28B9-5FB1-7AE8-395AB852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AE727-E99C-DB0A-BA43-7F16AB0D1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73A3B-72A8-1941-D1FD-0870F304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8A35F-5D25-D2B4-6E48-0D12C2A0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833D8-6750-18FE-295B-B2497FA0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194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848D8-E052-AF14-9819-2DF32B449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14562-EF81-A3FA-7A71-87DF572A4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12D3F-4855-FFD4-B79C-23E8CCDB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693E-2096-6B36-3429-D6F690F0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7698-D7D4-98DB-674E-CE9E4A675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644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35F12-3AED-62C1-29A5-7D4352C6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1F9B-87D6-6068-BEB4-9EEF5F5BE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F099-B7DD-FC09-D9EB-527E802D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DB921-37F9-490C-BEA6-0E922E2A6ADD}" type="datetimeFigureOut">
              <a:rPr lang="en-US" smtClean="0"/>
              <a:t>10/5/2025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3F384-FAB0-1842-F7F4-0AADBED8F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F2F5B-A2CF-54AB-69FA-62FC8EED2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E136A-567D-4DD4-9604-EDCA1324E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7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gi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49BE76-FC21-F67F-3A20-26C9BE593CC7}"/>
              </a:ext>
            </a:extLst>
          </p:cNvPr>
          <p:cNvSpPr/>
          <p:nvPr/>
        </p:nvSpPr>
        <p:spPr>
          <a:xfrm>
            <a:off x="2826771" y="272692"/>
            <a:ext cx="5528165" cy="83269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buNone/>
            </a:pPr>
            <a:r>
              <a:rPr lang="en-US" sz="5400" b="1" dirty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Linear Regression?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07092-AACB-45CE-C723-A12EFFE131F0}"/>
              </a:ext>
            </a:extLst>
          </p:cNvPr>
          <p:cNvSpPr txBox="1"/>
          <p:nvPr/>
        </p:nvSpPr>
        <p:spPr>
          <a:xfrm>
            <a:off x="685799" y="1378987"/>
            <a:ext cx="111218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Linear Regression</a:t>
            </a:r>
            <a:r>
              <a:rPr lang="en-US" dirty="0"/>
              <a:t> is a </a:t>
            </a:r>
            <a:r>
              <a:rPr lang="en-US" b="1" dirty="0"/>
              <a:t>supervised machine learning algorithm</a:t>
            </a:r>
            <a:r>
              <a:rPr lang="en-US" dirty="0"/>
              <a:t> used for </a:t>
            </a:r>
            <a:r>
              <a:rPr lang="en-US" b="1" dirty="0"/>
              <a:t>predicting a continuous value</a:t>
            </a:r>
            <a:r>
              <a:rPr lang="en-US" dirty="0"/>
              <a:t> (like price, salary, temperature) based on the relationship between </a:t>
            </a:r>
            <a:r>
              <a:rPr lang="en-US" b="1" dirty="0"/>
              <a:t>input variables (X)</a:t>
            </a:r>
            <a:r>
              <a:rPr lang="en-US" dirty="0"/>
              <a:t> and an </a:t>
            </a:r>
            <a:r>
              <a:rPr lang="en-US" b="1" dirty="0"/>
              <a:t>output variable (Y)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It tries to find the </a:t>
            </a:r>
            <a:r>
              <a:rPr lang="en-US" b="1" dirty="0"/>
              <a:t>best-fit straight line</a:t>
            </a:r>
            <a:r>
              <a:rPr lang="en-US" dirty="0"/>
              <a:t> (called the regression line) that describes how input variables affect the output.</a:t>
            </a:r>
          </a:p>
        </p:txBody>
      </p:sp>
      <p:pic>
        <p:nvPicPr>
          <p:cNvPr id="1026" name="Picture 2" descr="How to do linear regression and correlation analysis">
            <a:extLst>
              <a:ext uri="{FF2B5EF4-FFF2-40B4-BE49-F238E27FC236}">
                <a16:creationId xmlns:a16="http://schemas.microsoft.com/office/drawing/2014/main" id="{308A38A6-7746-28C9-0BD8-EAE9E5405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744" y="2312766"/>
            <a:ext cx="6361763" cy="393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8723098-776E-F439-8212-6262C44F9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338420"/>
              </p:ext>
            </p:extLst>
          </p:nvPr>
        </p:nvGraphicFramePr>
        <p:xfrm>
          <a:off x="685799" y="3180200"/>
          <a:ext cx="4281945" cy="1857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315">
                  <a:extLst>
                    <a:ext uri="{9D8B030D-6E8A-4147-A177-3AD203B41FA5}">
                      <a16:colId xmlns:a16="http://schemas.microsoft.com/office/drawing/2014/main" val="2488490205"/>
                    </a:ext>
                  </a:extLst>
                </a:gridCol>
                <a:gridCol w="1427315">
                  <a:extLst>
                    <a:ext uri="{9D8B030D-6E8A-4147-A177-3AD203B41FA5}">
                      <a16:colId xmlns:a16="http://schemas.microsoft.com/office/drawing/2014/main" val="2550552916"/>
                    </a:ext>
                  </a:extLst>
                </a:gridCol>
                <a:gridCol w="1427315">
                  <a:extLst>
                    <a:ext uri="{9D8B030D-6E8A-4147-A177-3AD203B41FA5}">
                      <a16:colId xmlns:a16="http://schemas.microsoft.com/office/drawing/2014/main" val="447686596"/>
                    </a:ext>
                  </a:extLst>
                </a:gridCol>
              </a:tblGrid>
              <a:tr h="410868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8306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61713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93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11146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1889E7-426D-B198-05BB-9C99E55D90D8}"/>
              </a:ext>
            </a:extLst>
          </p:cNvPr>
          <p:cNvSpPr/>
          <p:nvPr/>
        </p:nvSpPr>
        <p:spPr>
          <a:xfrm>
            <a:off x="2867645" y="557405"/>
            <a:ext cx="5417615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000" b="1" dirty="0"/>
              <a:t>Mathematical Intuition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E5A380-FA07-10EC-99E3-780A0070EFC1}"/>
                  </a:ext>
                </a:extLst>
              </p:cNvPr>
              <p:cNvSpPr txBox="1"/>
              <p:nvPr/>
            </p:nvSpPr>
            <p:spPr>
              <a:xfrm>
                <a:off x="789168" y="2133872"/>
                <a:ext cx="609467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Equation of a straight line: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ur-PK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E5A380-FA07-10EC-99E3-780A0070E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2133872"/>
                <a:ext cx="6094674" cy="646331"/>
              </a:xfrm>
              <a:prstGeom prst="rect">
                <a:avLst/>
              </a:prstGeom>
              <a:blipFill>
                <a:blip r:embed="rId5"/>
                <a:stretch>
                  <a:fillRect l="-600" t="-471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C53DD1-FDDE-3D44-3969-0A31B88C1B16}"/>
                  </a:ext>
                </a:extLst>
              </p:cNvPr>
              <p:cNvSpPr txBox="1"/>
              <p:nvPr/>
            </p:nvSpPr>
            <p:spPr>
              <a:xfrm>
                <a:off x="789168" y="2967335"/>
                <a:ext cx="51237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highlight>
                      <a:srgbClr val="FFFF00"/>
                    </a:highlight>
                  </a:rPr>
                  <a:t>where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= slope (how much y changes when x increases by 1)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= intercept (value of y when x = 0)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C53DD1-FDDE-3D44-3969-0A31B88C1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68" y="2967335"/>
                <a:ext cx="5123700" cy="1200329"/>
              </a:xfrm>
              <a:prstGeom prst="rect">
                <a:avLst/>
              </a:prstGeom>
              <a:blipFill>
                <a:blip r:embed="rId6"/>
                <a:stretch>
                  <a:fillRect l="-951" t="-3046" r="-15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Linear Regression (3 of 4) | Statistics for the Social Sciences">
            <a:extLst>
              <a:ext uri="{FF2B5EF4-FFF2-40B4-BE49-F238E27FC236}">
                <a16:creationId xmlns:a16="http://schemas.microsoft.com/office/drawing/2014/main" id="{3AE3F96A-4BB8-5119-1B3E-4BCF717C9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868" y="1856630"/>
            <a:ext cx="5601282" cy="3936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3834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060E-81A6-A097-F926-229552E8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040A42-1CFA-9E69-FBC9-8554A8AC96DC}"/>
              </a:ext>
            </a:extLst>
          </p:cNvPr>
          <p:cNvSpPr/>
          <p:nvPr/>
        </p:nvSpPr>
        <p:spPr>
          <a:xfrm>
            <a:off x="2096369" y="413729"/>
            <a:ext cx="8135880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/>
              <a:t>3. How It Works (Algorithm Concept)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5DE89E3A-2E9B-B540-B423-81D90C0E864C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D94EB-666D-5C39-15E6-D658C3D31164}"/>
                  </a:ext>
                </a:extLst>
              </p:cNvPr>
              <p:cNvSpPr txBox="1"/>
              <p:nvPr/>
            </p:nvSpPr>
            <p:spPr>
              <a:xfrm>
                <a:off x="1163933" y="1333285"/>
                <a:ext cx="934874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Goal</a:t>
                </a:r>
                <a:r>
                  <a:rPr lang="en-US" dirty="0"/>
                  <a:t>: Find best-fit line that minimizes error.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b="1" dirty="0"/>
                  <a:t>Error/Residual</a:t>
                </a:r>
                <a:r>
                  <a:rPr lang="en-US" dirty="0"/>
                  <a:t>: Difference between actual and predicted value.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𝐸𝑟𝑟𝑜𝑟</m:t>
                    </m:r>
                    <m:r>
                      <a:rPr lang="en-US" i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ur-PK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ur-PK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ur-PK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D94EB-666D-5C39-15E6-D658C3D31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933" y="1333285"/>
                <a:ext cx="9348745" cy="923330"/>
              </a:xfrm>
              <a:prstGeom prst="rect">
                <a:avLst/>
              </a:prstGeom>
              <a:blipFill>
                <a:blip r:embed="rId5"/>
                <a:stretch>
                  <a:fillRect l="-456" t="-3974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Linear Regression: A Complete Guide to Modeling Relationships Between  Variables">
            <a:extLst>
              <a:ext uri="{FF2B5EF4-FFF2-40B4-BE49-F238E27FC236}">
                <a16:creationId xmlns:a16="http://schemas.microsoft.com/office/drawing/2014/main" id="{F448C190-6C8D-7107-D81F-88A6CC8757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10"/>
          <a:stretch>
            <a:fillRect/>
          </a:stretch>
        </p:blipFill>
        <p:spPr bwMode="auto">
          <a:xfrm>
            <a:off x="5512302" y="2119627"/>
            <a:ext cx="4067940" cy="379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5411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AC56-802A-EAFB-B056-56D80AC52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895635-F505-DCF9-CE82-F5ED690D528D}"/>
              </a:ext>
            </a:extLst>
          </p:cNvPr>
          <p:cNvSpPr/>
          <p:nvPr/>
        </p:nvSpPr>
        <p:spPr>
          <a:xfrm>
            <a:off x="5120527" y="319861"/>
            <a:ext cx="1553280" cy="80624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000" b="1" dirty="0"/>
              <a:t>Types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4C09F17A-A6BF-DF0F-1C44-94865B9AB05D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4390D6-78A6-8FDD-B6F8-BD97381A2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583222"/>
              </p:ext>
            </p:extLst>
          </p:nvPr>
        </p:nvGraphicFramePr>
        <p:xfrm>
          <a:off x="1262158" y="2674642"/>
          <a:ext cx="2854630" cy="25801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7315">
                  <a:extLst>
                    <a:ext uri="{9D8B030D-6E8A-4147-A177-3AD203B41FA5}">
                      <a16:colId xmlns:a16="http://schemas.microsoft.com/office/drawing/2014/main" val="2488490205"/>
                    </a:ext>
                  </a:extLst>
                </a:gridCol>
                <a:gridCol w="1427315">
                  <a:extLst>
                    <a:ext uri="{9D8B030D-6E8A-4147-A177-3AD203B41FA5}">
                      <a16:colId xmlns:a16="http://schemas.microsoft.com/office/drawing/2014/main" val="447686596"/>
                    </a:ext>
                  </a:extLst>
                </a:gridCol>
              </a:tblGrid>
              <a:tr h="410868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Exp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(Price)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8306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$3k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61713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$10k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93020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$30k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3230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0144F2-D11D-B5F1-B4EC-9D3C91C570E5}"/>
              </a:ext>
            </a:extLst>
          </p:cNvPr>
          <p:cNvSpPr txBox="1"/>
          <p:nvPr/>
        </p:nvSpPr>
        <p:spPr>
          <a:xfrm>
            <a:off x="952058" y="1434132"/>
            <a:ext cx="41685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Simple Linear Regression (1 feature)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 Z = mx + 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165E6-6819-A56F-5BE8-6CAFCA613C44}"/>
              </a:ext>
            </a:extLst>
          </p:cNvPr>
          <p:cNvSpPr txBox="1"/>
          <p:nvPr/>
        </p:nvSpPr>
        <p:spPr>
          <a:xfrm>
            <a:off x="6289368" y="1434132"/>
            <a:ext cx="6094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Multiple Linear Regression (many features)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Z = mx1 + mx2 + mx3 + c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E3D1E6-D80B-0C26-BCE2-7063FBA24C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798284"/>
              </p:ext>
            </p:extLst>
          </p:nvPr>
        </p:nvGraphicFramePr>
        <p:xfrm>
          <a:off x="6002461" y="2674642"/>
          <a:ext cx="4572776" cy="25801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4443">
                  <a:extLst>
                    <a:ext uri="{9D8B030D-6E8A-4147-A177-3AD203B41FA5}">
                      <a16:colId xmlns:a16="http://schemas.microsoft.com/office/drawing/2014/main" val="2488490205"/>
                    </a:ext>
                  </a:extLst>
                </a:gridCol>
                <a:gridCol w="1415332">
                  <a:extLst>
                    <a:ext uri="{9D8B030D-6E8A-4147-A177-3AD203B41FA5}">
                      <a16:colId xmlns:a16="http://schemas.microsoft.com/office/drawing/2014/main" val="447686596"/>
                    </a:ext>
                  </a:extLst>
                </a:gridCol>
                <a:gridCol w="979807">
                  <a:extLst>
                    <a:ext uri="{9D8B030D-6E8A-4147-A177-3AD203B41FA5}">
                      <a16:colId xmlns:a16="http://schemas.microsoft.com/office/drawing/2014/main" val="1449056196"/>
                    </a:ext>
                  </a:extLst>
                </a:gridCol>
                <a:gridCol w="1143194">
                  <a:extLst>
                    <a:ext uri="{9D8B030D-6E8A-4147-A177-3AD203B41FA5}">
                      <a16:colId xmlns:a16="http://schemas.microsoft.com/office/drawing/2014/main" val="2444331054"/>
                    </a:ext>
                  </a:extLst>
                </a:gridCol>
              </a:tblGrid>
              <a:tr h="410868"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Exp (X1)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Gender (X3)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Age (X3)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highlight>
                            <a:srgbClr val="FFFF00"/>
                          </a:highlight>
                        </a:rPr>
                        <a:t>Price (Y)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38306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61713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5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$12k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793020"/>
                  </a:ext>
                </a:extLst>
              </a:tr>
              <a:tr h="723078">
                <a:tc>
                  <a:txBody>
                    <a:bodyPr/>
                    <a:lstStyle/>
                    <a:p>
                      <a:r>
                        <a:rPr lang="en-US" b="1" dirty="0"/>
                        <a:t>10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$30k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323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20269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4C96-47F7-A4AE-AE01-AB44CBD6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EA1168F-63B4-0992-1431-3AB39364C3BD}"/>
              </a:ext>
            </a:extLst>
          </p:cNvPr>
          <p:cNvSpPr/>
          <p:nvPr/>
        </p:nvSpPr>
        <p:spPr>
          <a:xfrm>
            <a:off x="3490910" y="341664"/>
            <a:ext cx="4892829" cy="669695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4000" b="1" dirty="0"/>
              <a:t>Code Implementation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34" name="Ink 1133">
                <a:extLst>
                  <a:ext uri="{FF2B5EF4-FFF2-40B4-BE49-F238E27FC236}">
                    <a16:creationId xmlns:a16="http://schemas.microsoft.com/office/drawing/2014/main" id="{D18451E3-CB8E-E704-544F-A08255B64579}"/>
                  </a:ext>
                </a:extLst>
              </p14:cNvPr>
              <p14:cNvContentPartPr/>
              <p14:nvPr/>
            </p14:nvContentPartPr>
            <p14:xfrm>
              <a:off x="7657980" y="4015680"/>
              <a:ext cx="360" cy="360"/>
            </p14:xfrm>
          </p:contentPart>
        </mc:Choice>
        <mc:Fallback xmlns="">
          <p:pic>
            <p:nvPicPr>
              <p:cNvPr id="1134" name="Ink 1133">
                <a:extLst>
                  <a:ext uri="{FF2B5EF4-FFF2-40B4-BE49-F238E27FC236}">
                    <a16:creationId xmlns:a16="http://schemas.microsoft.com/office/drawing/2014/main" id="{BFD4E63D-D80E-C141-53F2-0EFCDFB531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9340" y="400704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72AF309-4D4B-8B63-3641-8E8B674AD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210" y="1086182"/>
            <a:ext cx="6922231" cy="4231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173B20-7976-D6F7-A607-D825D119F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9898" y="5362147"/>
            <a:ext cx="5658910" cy="81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377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234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Saeed</dc:creator>
  <cp:lastModifiedBy>Noor Saeed</cp:lastModifiedBy>
  <cp:revision>58</cp:revision>
  <dcterms:created xsi:type="dcterms:W3CDTF">2025-07-06T06:51:20Z</dcterms:created>
  <dcterms:modified xsi:type="dcterms:W3CDTF">2025-10-05T10:03:13Z</dcterms:modified>
</cp:coreProperties>
</file>