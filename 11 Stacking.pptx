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71" r:id="rId4"/>
    <p:sldId id="2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50" autoAdjust="0"/>
  </p:normalViewPr>
  <p:slideViewPr>
    <p:cSldViewPr snapToGrid="0">
      <p:cViewPr varScale="1">
        <p:scale>
          <a:sx n="96" d="100"/>
          <a:sy n="96" d="100"/>
        </p:scale>
        <p:origin x="355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7:21:4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7:21:4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74182-1286-474A-B382-2491F52F3D3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E6E22-E3E7-408B-843F-4649A72B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8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FFBF-9FB8-0347-F993-103435A06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60B19-04A4-12CA-02D4-EBD83F082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FFD30-268F-BA6B-3E5E-F5183A83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80A5C-9F2D-89CA-DD0E-BD778D2A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790A9-6BFF-81FE-E483-7F481AB0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9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95C6-982B-F1C2-7B47-F569593E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0F240-549A-3AA4-E098-14A9DCF9B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7472D-536B-28EE-A8F9-169F8A63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741C7-5886-0339-CE95-B67C0684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C8440-B9C5-B9F6-803D-7A73F01D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0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B5AE-8C60-29A4-4741-EA8E4216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D950C-7552-940D-B7C0-F1D3F5815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72F1-44DE-E45A-05D9-917DD07D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A6464-7967-7FF3-EB22-1326731E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94037-5D59-48B9-2F60-C77142E0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41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C065-4096-1457-4507-7D76CF22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270DC-A905-0CBC-DF3A-E9D3C1214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905ED-5EA5-E384-8A9B-2146F5420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0B568-153A-473B-F762-C50C4AD0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FF869-F951-1378-6E6F-B1D1F10A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59E02-81AB-6736-6C11-6B110EA1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49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E422-DE25-FB3E-D602-6C30161E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26B15-5FFB-EE07-CB07-1E1C96FDF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E6509-0567-A84C-E852-CB3DE368A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E46E5-6408-C3C0-73BD-96E8520F4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33C01-4EF5-4ADE-A391-5C679D18B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6B55D-79E3-09C6-A38B-F5FA6247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EB79C-1F1C-9814-0C54-32B58CAC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0E9A22-C0DD-2A8B-02BD-C6F708C3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5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6E9C-98B1-EAA7-9913-DD10EB81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58F4B-CEA7-9252-8D2B-39F74033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AA27A-9100-266E-EC24-D45AB6C8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8EB69-6858-33A2-55AB-74A7827F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6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C1DA3-2825-D68F-E2F5-E98AA4AA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994D7-299E-F97A-813C-89C53F95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2080E-1123-29F8-6D40-AF66A146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26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9086-32CB-B79F-0289-296BEC18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BA476-5738-509E-5942-D7ECC7E35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D3AC1-729E-26C2-C6CE-FCAA43100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594F1-C501-1713-3D1D-4FB9D85A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B3E38-B7A2-11F3-4932-5B276351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B2176-E390-5BAA-EE9A-DBA73FA9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9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7C59-72A5-7A02-0338-E19D652A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D0DCC-9304-5251-FF08-09D87A055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55A4C-5EC8-141A-695D-A22141221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37C7A-F9B9-B0D1-1303-71BC1FD3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A52B2-5060-4E8C-303D-5872BF2F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C233C-3162-8856-1DB6-9FF80D72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4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633E-28B9-5FB1-7AE8-395AB852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AE727-E99C-DB0A-BA43-7F16AB0D1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73A3B-72A8-1941-D1FD-0870F304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8A35F-5D25-D2B4-6E48-0D12C2A0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833D8-6750-18FE-295B-B2497FA0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1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2848D8-E052-AF14-9819-2DF32B449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14562-EF81-A3FA-7A71-87DF572A4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12D3F-4855-FFD4-B79C-23E8CCDB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B693E-2096-6B36-3429-D6F690F0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E7698-D7D4-98DB-674E-CE9E4A67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64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35F12-3AED-62C1-29A5-7D4352C6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F1F9B-87D6-6068-BEB4-9EEF5F5BE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F099-B7DD-FC09-D9EB-527E802DF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DB921-37F9-490C-BEA6-0E922E2A6A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3F384-FAB0-1842-F7F4-0AADBED8F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2F5B-A2CF-54AB-69FA-62FC8EED2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7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49BE76-FC21-F67F-3A20-26C9BE593CC7}"/>
              </a:ext>
            </a:extLst>
          </p:cNvPr>
          <p:cNvSpPr/>
          <p:nvPr/>
        </p:nvSpPr>
        <p:spPr>
          <a:xfrm>
            <a:off x="4625651" y="168602"/>
            <a:ext cx="2784966" cy="84121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Stacking</a:t>
            </a:r>
            <a:endParaRPr lang="en-US" sz="6000" b="1" dirty="0"/>
          </a:p>
        </p:txBody>
      </p:sp>
      <p:pic>
        <p:nvPicPr>
          <p:cNvPr id="2" name="Picture 4" descr="Ensemble Stacking for Machine Learning and Deep Learning">
            <a:extLst>
              <a:ext uri="{FF2B5EF4-FFF2-40B4-BE49-F238E27FC236}">
                <a16:creationId xmlns:a16="http://schemas.microsoft.com/office/drawing/2014/main" id="{B69CC527-68E4-B46A-26CD-241506F38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133" y="1689496"/>
            <a:ext cx="9244001" cy="399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CC7F62-4D50-5018-25EF-179A582320B5}"/>
              </a:ext>
            </a:extLst>
          </p:cNvPr>
          <p:cNvSpPr txBox="1"/>
          <p:nvPr/>
        </p:nvSpPr>
        <p:spPr>
          <a:xfrm>
            <a:off x="412644" y="1009816"/>
            <a:ext cx="11096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Stacking</a:t>
            </a:r>
            <a:r>
              <a:rPr lang="en-US" sz="1400" dirty="0"/>
              <a:t> (short for </a:t>
            </a:r>
            <a:r>
              <a:rPr lang="en-US" sz="1400" i="1" dirty="0"/>
              <a:t>stacked generalization</a:t>
            </a:r>
            <a:r>
              <a:rPr lang="en-US" sz="1400" dirty="0"/>
              <a:t>) is an </a:t>
            </a:r>
            <a:r>
              <a:rPr lang="en-US" sz="1400" b="1" dirty="0"/>
              <a:t>ensemble learning technique</a:t>
            </a:r>
            <a:r>
              <a:rPr lang="en-US" sz="1400" dirty="0"/>
              <a:t> where you combine predictions from multiple different models using another model (called a </a:t>
            </a:r>
            <a:r>
              <a:rPr lang="en-US" sz="1400" b="1" dirty="0"/>
              <a:t>meta-learner</a:t>
            </a:r>
            <a:r>
              <a:rPr lang="en-US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6111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1889E7-426D-B198-05BB-9C99E55D90D8}"/>
              </a:ext>
            </a:extLst>
          </p:cNvPr>
          <p:cNvSpPr/>
          <p:nvPr/>
        </p:nvSpPr>
        <p:spPr>
          <a:xfrm>
            <a:off x="1635192" y="202133"/>
            <a:ext cx="835741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/>
              <a:t>Key Points about Stacking: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14:cNvPr>
              <p14:cNvContentPartPr/>
              <p14:nvPr/>
            </p14:nvContentPartPr>
            <p14:xfrm>
              <a:off x="7657980" y="4015680"/>
              <a:ext cx="360" cy="360"/>
            </p14:xfrm>
          </p:contentPart>
        </mc:Choice>
        <mc:Fallback xmlns="">
          <p:pic>
            <p:nvPicPr>
              <p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9340" y="400704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2668FB8-3FFD-DAAB-8729-9ECB4394ED8F}"/>
              </a:ext>
            </a:extLst>
          </p:cNvPr>
          <p:cNvSpPr txBox="1"/>
          <p:nvPr/>
        </p:nvSpPr>
        <p:spPr>
          <a:xfrm>
            <a:off x="423919" y="1247930"/>
            <a:ext cx="11344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Base models (Level-0):</a:t>
            </a:r>
            <a:r>
              <a:rPr lang="en-US" dirty="0"/>
              <a:t> You train several different models (e.g., Random Forest, XGBoost, SVM,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Meta-model (Level-1):</a:t>
            </a:r>
            <a:r>
              <a:rPr lang="en-US" dirty="0"/>
              <a:t> Another model (often Logistic Regression) takes the predictions of the base models as inputs and learns how to best combine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Exploit the strengths of multiple models and reduce their weaknesses.</a:t>
            </a:r>
          </a:p>
        </p:txBody>
      </p:sp>
      <p:pic>
        <p:nvPicPr>
          <p:cNvPr id="1028" name="Picture 4" descr="Ensemble Stacking for Machine Learning and Deep Learning">
            <a:extLst>
              <a:ext uri="{FF2B5EF4-FFF2-40B4-BE49-F238E27FC236}">
                <a16:creationId xmlns:a16="http://schemas.microsoft.com/office/drawing/2014/main" id="{4E4C21B5-13BE-AE5C-8178-63D247B06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215" y="2687812"/>
            <a:ext cx="7895645" cy="3408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38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716B-0992-A244-981B-3FD0E104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574DF3-563D-44B9-7A65-F65270CEAD42}"/>
              </a:ext>
            </a:extLst>
          </p:cNvPr>
          <p:cNvSpPr/>
          <p:nvPr/>
        </p:nvSpPr>
        <p:spPr>
          <a:xfrm>
            <a:off x="1635192" y="202133"/>
            <a:ext cx="835741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/>
              <a:t>Difference from other ensembles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34" name="Ink 1133">
                <a:extLst>
                  <a:ext uri="{FF2B5EF4-FFF2-40B4-BE49-F238E27FC236}">
                    <a16:creationId xmlns:a16="http://schemas.microsoft.com/office/drawing/2014/main" id="{4EABE77A-0648-7C97-B53B-48629E0A47F8}"/>
                  </a:ext>
                </a:extLst>
              </p14:cNvPr>
              <p14:cNvContentPartPr/>
              <p14:nvPr/>
            </p14:nvContentPartPr>
            <p14:xfrm>
              <a:off x="7657980" y="4015680"/>
              <a:ext cx="360" cy="360"/>
            </p14:xfrm>
          </p:contentPart>
        </mc:Choice>
        <mc:Fallback xmlns="">
          <p:pic>
            <p:nvPicPr>
              <p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9340" y="400704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16F4FAD-AA17-484A-CAE9-A779031D8E56}"/>
              </a:ext>
            </a:extLst>
          </p:cNvPr>
          <p:cNvSpPr txBox="1"/>
          <p:nvPr/>
        </p:nvSpPr>
        <p:spPr>
          <a:xfrm>
            <a:off x="1131074" y="1171704"/>
            <a:ext cx="102551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Bagging</a:t>
            </a:r>
            <a:r>
              <a:rPr lang="en-US" dirty="0"/>
              <a:t> → trains many models of the same type on random subsets of data, then averages/votes.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Boosting</a:t>
            </a:r>
            <a:r>
              <a:rPr lang="en-US" dirty="0"/>
              <a:t> → trains models sequentially, each one fixing the errors of the previous.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Stacking</a:t>
            </a:r>
            <a:r>
              <a:rPr lang="en-US" dirty="0"/>
              <a:t> → trains diverse models in parallel and then uses a meta-model to blend their outputs.</a:t>
            </a:r>
          </a:p>
        </p:txBody>
      </p:sp>
      <p:pic>
        <p:nvPicPr>
          <p:cNvPr id="1028" name="Picture 4" descr="Ensemble Stacking for Machine Learning and Deep Learning">
            <a:extLst>
              <a:ext uri="{FF2B5EF4-FFF2-40B4-BE49-F238E27FC236}">
                <a16:creationId xmlns:a16="http://schemas.microsoft.com/office/drawing/2014/main" id="{B9806122-DCF7-3D9D-5307-05A2798F8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649" y="2202701"/>
            <a:ext cx="8782702" cy="37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495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E242-F56A-6A61-927B-ED0E4C57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0006E0-A41A-2F51-8325-A6F06C95DA42}"/>
              </a:ext>
            </a:extLst>
          </p:cNvPr>
          <p:cNvSpPr/>
          <p:nvPr/>
        </p:nvSpPr>
        <p:spPr>
          <a:xfrm>
            <a:off x="1620320" y="241760"/>
            <a:ext cx="835741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400" b="1" dirty="0"/>
              <a:t>Code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5E368-2108-AC9B-2196-D6C3BDC33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68" y="1678216"/>
            <a:ext cx="7239627" cy="3962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70EF07-30A8-3C1E-60FE-6D0E9E97F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387" y="2659439"/>
            <a:ext cx="3314987" cy="24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6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157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Saeed</dc:creator>
  <cp:lastModifiedBy>Noor Saeed</cp:lastModifiedBy>
  <cp:revision>43</cp:revision>
  <dcterms:created xsi:type="dcterms:W3CDTF">2025-07-06T06:51:20Z</dcterms:created>
  <dcterms:modified xsi:type="dcterms:W3CDTF">2025-09-29T16:13:59Z</dcterms:modified>
</cp:coreProperties>
</file>