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72" r:id="rId4"/>
    <p:sldId id="273" r:id="rId5"/>
    <p:sldId id="269" r:id="rId6"/>
    <p:sldId id="27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76" autoAdjust="0"/>
    <p:restoredTop sz="96150" autoAdjust="0"/>
  </p:normalViewPr>
  <p:slideViewPr>
    <p:cSldViewPr snapToGrid="0">
      <p:cViewPr>
        <p:scale>
          <a:sx n="100" d="100"/>
          <a:sy n="100" d="100"/>
        </p:scale>
        <p:origin x="197" y="-1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07:21:43.1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07:26:11.5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174182-1286-474A-B382-2491F52F3D33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0E6E22-E3E7-408B-843F-4649A72B4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688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2FFBF-9FB8-0347-F993-103435A06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860B19-04A4-12CA-02D4-EBD83F082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FFD30-268F-BA6B-3E5E-F5183A834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80A5C-9F2D-89CA-DD0E-BD778D2AA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790A9-6BFF-81FE-E483-7F481AB0E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893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E95C6-982B-F1C2-7B47-F569593EA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0F240-549A-3AA4-E098-14A9DCF9B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7472D-536B-28EE-A8F9-169F8A634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741C7-5886-0339-CE95-B67C0684B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C8440-B9C5-B9F6-803D-7A73F01D5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609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3B5AE-8C60-29A4-4741-EA8E4216D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D950C-7552-940D-B7C0-F1D3F5815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B72F1-44DE-E45A-05D9-917DD07D6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A6464-7967-7FF3-EB22-1326731EE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94037-5D59-48B9-2F60-C77142E0A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41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CC065-4096-1457-4507-7D76CF229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270DC-A905-0CBC-DF3A-E9D3C1214B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C905ED-5EA5-E384-8A9B-2146F54204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0B568-153A-473B-F762-C50C4AD06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FFF869-F951-1378-6E6F-B1D1F10AA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A59E02-81AB-6736-6C11-6B110EA1A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149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2E422-DE25-FB3E-D602-6C30161E3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26B15-5FFB-EE07-CB07-1E1C96FDF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7E6509-0567-A84C-E852-CB3DE368A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2E46E5-6408-C3C0-73BD-96E8520F4E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33C01-4EF5-4ADE-A391-5C679D18BA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06B55D-79E3-09C6-A38B-F5FA62479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2EB79C-1F1C-9814-0C54-32B58CAC5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0E9A22-C0DD-2A8B-02BD-C6F708C31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958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16E9C-98B1-EAA7-9913-DD10EB813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958F4B-CEA7-9252-8D2B-39F74033A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BAA27A-9100-266E-EC24-D45AB6C81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B8EB69-6858-33A2-55AB-74A7827F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65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9C1DA3-2825-D68F-E2F5-E98AA4AA6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1994D7-299E-F97A-813C-89C53F951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2080E-1123-29F8-6D40-AF66A1468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126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29086-32CB-B79F-0289-296BEC184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BA476-5738-509E-5942-D7ECC7E35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D3AC1-729E-26C2-C6CE-FCAA43100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1594F1-C501-1713-3D1D-4FB9D85A9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B3E38-B7A2-11F3-4932-5B2763519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B2176-E390-5BAA-EE9A-DBA73FA91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291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37C59-72A5-7A02-0338-E19D652A2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9D0DCC-9304-5251-FF08-09D87A0559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955A4C-5EC8-141A-695D-A22141221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437C7A-F9B9-B0D1-1303-71BC1FD37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A52B2-5060-4E8C-303D-5872BF2F0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3C233C-3162-8856-1DB6-9FF80D728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443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0633E-28B9-5FB1-7AE8-395AB852C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EAE727-E99C-DB0A-BA43-7F16AB0D1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73A3B-72A8-1941-D1FD-0870F304A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8A35F-5D25-D2B4-6E48-0D12C2A0A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833D8-6750-18FE-295B-B2497FA06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919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2848D8-E052-AF14-9819-2DF32B4498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614562-EF81-A3FA-7A71-87DF572A44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12D3F-4855-FFD4-B79C-23E8CCDB8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B693E-2096-6B36-3429-D6F690F0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E7698-D7D4-98DB-674E-CE9E4A675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64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135F12-3AED-62C1-29A5-7D4352C67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F1F9B-87D6-6068-BEB4-9EEF5F5BE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1F099-B7DD-FC09-D9EB-527E802DFC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DB921-37F9-490C-BEA6-0E922E2A6ADD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3F384-FAB0-1842-F7F4-0AADBED8FA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F2F5B-A2CF-54AB-69FA-62FC8EED2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673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349BE76-FC21-F67F-3A20-26C9BE593CC7}"/>
              </a:ext>
            </a:extLst>
          </p:cNvPr>
          <p:cNvSpPr/>
          <p:nvPr/>
        </p:nvSpPr>
        <p:spPr>
          <a:xfrm>
            <a:off x="1011099" y="796754"/>
            <a:ext cx="10169801" cy="143947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600" b="1" dirty="0"/>
              <a:t>Gradient Boosting</a:t>
            </a:r>
            <a:endParaRPr lang="en-US" sz="115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43C09A-3DF8-1550-DCB6-EB7ED8E34765}"/>
              </a:ext>
            </a:extLst>
          </p:cNvPr>
          <p:cNvSpPr txBox="1"/>
          <p:nvPr/>
        </p:nvSpPr>
        <p:spPr>
          <a:xfrm>
            <a:off x="615684" y="2749662"/>
            <a:ext cx="39788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highlight>
                  <a:srgbClr val="FFFF00"/>
                </a:highlight>
              </a:rPr>
              <a:t>What is boosting?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29B4CE-F790-9FBA-4020-4D7D660EFB60}"/>
              </a:ext>
            </a:extLst>
          </p:cNvPr>
          <p:cNvSpPr txBox="1"/>
          <p:nvPr/>
        </p:nvSpPr>
        <p:spPr>
          <a:xfrm>
            <a:off x="739251" y="3298278"/>
            <a:ext cx="42012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>
                <a:highlight>
                  <a:srgbClr val="00FFFF"/>
                </a:highlight>
              </a:rPr>
              <a:t>The Process of boosting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F454CF-C726-30A0-ED31-555666090D7E}"/>
              </a:ext>
            </a:extLst>
          </p:cNvPr>
          <p:cNvSpPr txBox="1"/>
          <p:nvPr/>
        </p:nvSpPr>
        <p:spPr>
          <a:xfrm>
            <a:off x="1011099" y="37599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highlight>
                  <a:srgbClr val="FF00FF"/>
                </a:highlight>
                <a:latin typeface="Arial" panose="020B0604020202020204" pitchFamily="34" charset="0"/>
              </a:rPr>
              <a:t>Types of Gradient Boosting Algorithms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8FBDE9-DB91-AA7D-F724-1F8B2A8580B4}"/>
              </a:ext>
            </a:extLst>
          </p:cNvPr>
          <p:cNvSpPr txBox="1"/>
          <p:nvPr/>
        </p:nvSpPr>
        <p:spPr>
          <a:xfrm>
            <a:off x="1011099" y="408316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highlight>
                  <a:srgbClr val="00FFFF"/>
                </a:highlight>
                <a:latin typeface="Arial" panose="020B0604020202020204" pitchFamily="34" charset="0"/>
              </a:rPr>
              <a:t>Applications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F2E835-59C7-2750-A67D-9F91B2A69811}"/>
              </a:ext>
            </a:extLst>
          </p:cNvPr>
          <p:cNvSpPr txBox="1"/>
          <p:nvPr/>
        </p:nvSpPr>
        <p:spPr>
          <a:xfrm>
            <a:off x="1011099" y="442171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highlight>
                  <a:srgbClr val="00FF00"/>
                </a:highlight>
                <a:latin typeface="Arial" panose="020B0604020202020204" pitchFamily="34" charset="0"/>
              </a:rPr>
              <a:t>Code Implementation</a:t>
            </a:r>
          </a:p>
        </p:txBody>
      </p:sp>
      <p:pic>
        <p:nvPicPr>
          <p:cNvPr id="11" name="Picture 2" descr="Comparing Model Ensembling: Bagging, Boosting, and Stacking - NBD Lite #7">
            <a:extLst>
              <a:ext uri="{FF2B5EF4-FFF2-40B4-BE49-F238E27FC236}">
                <a16:creationId xmlns:a16="http://schemas.microsoft.com/office/drawing/2014/main" id="{AF591336-7FA8-1219-488D-67BB8C4FED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23"/>
          <a:stretch>
            <a:fillRect/>
          </a:stretch>
        </p:blipFill>
        <p:spPr bwMode="auto">
          <a:xfrm>
            <a:off x="5777815" y="2370127"/>
            <a:ext cx="4994324" cy="2779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1114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E1889E7-426D-B198-05BB-9C99E55D90D8}"/>
              </a:ext>
            </a:extLst>
          </p:cNvPr>
          <p:cNvSpPr/>
          <p:nvPr/>
        </p:nvSpPr>
        <p:spPr>
          <a:xfrm>
            <a:off x="1635192" y="202133"/>
            <a:ext cx="8357419" cy="80624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000" b="1" dirty="0"/>
              <a:t>What is boosting?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069355-70CC-1916-78DE-B6F95F0C6D6D}"/>
              </a:ext>
            </a:extLst>
          </p:cNvPr>
          <p:cNvSpPr txBox="1"/>
          <p:nvPr/>
        </p:nvSpPr>
        <p:spPr>
          <a:xfrm>
            <a:off x="547816" y="1073951"/>
            <a:ext cx="1109636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Boosting is an </a:t>
            </a:r>
            <a:r>
              <a:rPr lang="en-US" sz="1400" b="1" dirty="0"/>
              <a:t>ensemble learning technique</a:t>
            </a:r>
            <a:r>
              <a:rPr lang="en-US" sz="1400" dirty="0"/>
              <a:t> where multiple </a:t>
            </a:r>
            <a:r>
              <a:rPr lang="en-US" sz="1400" b="1" dirty="0"/>
              <a:t>weak learners</a:t>
            </a:r>
            <a:r>
              <a:rPr lang="en-US" sz="1400" dirty="0"/>
              <a:t> (usually shallow decision trees, also called "stumps") are combined </a:t>
            </a:r>
            <a:r>
              <a:rPr lang="en-US" sz="1400" b="1" dirty="0"/>
              <a:t>sequentially</a:t>
            </a:r>
            <a:r>
              <a:rPr lang="en-US" sz="1400" dirty="0"/>
              <a:t> to create a </a:t>
            </a:r>
            <a:r>
              <a:rPr lang="en-US" sz="1400" b="1" dirty="0"/>
              <a:t>strong learner</a:t>
            </a:r>
            <a:r>
              <a:rPr lang="en-US" sz="1400" dirty="0"/>
              <a:t>. Unlike </a:t>
            </a:r>
            <a:r>
              <a:rPr lang="en-US" sz="1400" b="1" dirty="0"/>
              <a:t>Bagging</a:t>
            </a:r>
            <a:r>
              <a:rPr lang="en-US" sz="1400" dirty="0"/>
              <a:t> (Random Forest), where models are trained independently in parallel, Boosting trains models </a:t>
            </a:r>
            <a:r>
              <a:rPr lang="en-US" sz="1400" b="1" dirty="0"/>
              <a:t>one after another</a:t>
            </a:r>
            <a:r>
              <a:rPr lang="en-US" sz="1400" dirty="0"/>
              <a:t>, with each new model trying to </a:t>
            </a:r>
            <a:r>
              <a:rPr lang="en-US" sz="1400" b="1" dirty="0"/>
              <a:t>fix the errors of the previous one</a:t>
            </a:r>
            <a:r>
              <a:rPr lang="en-US" sz="1400" dirty="0"/>
              <a:t>.</a:t>
            </a:r>
          </a:p>
          <a:p>
            <a:pPr>
              <a:buNone/>
            </a:pPr>
            <a:r>
              <a:rPr lang="en-US" sz="1400" dirty="0"/>
              <a:t>Each tree is trained on the </a:t>
            </a:r>
            <a:r>
              <a:rPr lang="en-US" sz="1400" b="1" dirty="0"/>
              <a:t>residual errors</a:t>
            </a:r>
            <a:r>
              <a:rPr lang="en-US" sz="1400" dirty="0"/>
              <a:t> (difference between the actual and predicted values) of the previous model.</a:t>
            </a:r>
          </a:p>
        </p:txBody>
      </p:sp>
      <p:pic>
        <p:nvPicPr>
          <p:cNvPr id="2" name="Picture 2" descr="Ensemble Learning: Bagging &amp; Boosting | Towards Data Science">
            <a:extLst>
              <a:ext uri="{FF2B5EF4-FFF2-40B4-BE49-F238E27FC236}">
                <a16:creationId xmlns:a16="http://schemas.microsoft.com/office/drawing/2014/main" id="{5450E8D1-C7E3-0573-3E2F-A460CD08B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176" y="2028058"/>
            <a:ext cx="7927450" cy="4459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34" name="Ink 1133">
                <a:extLst>
                  <a:ext uri="{FF2B5EF4-FFF2-40B4-BE49-F238E27FC236}">
                    <a16:creationId xmlns:a16="http://schemas.microsoft.com/office/drawing/2014/main" id="{BFD4E63D-D80E-C141-53F2-0EFCDFB53173}"/>
                  </a:ext>
                </a:extLst>
              </p14:cNvPr>
              <p14:cNvContentPartPr/>
              <p14:nvPr/>
            </p14:nvContentPartPr>
            <p14:xfrm>
              <a:off x="7657980" y="4015680"/>
              <a:ext cx="360" cy="360"/>
            </p14:xfrm>
          </p:contentPart>
        </mc:Choice>
        <mc:Fallback>
          <p:pic>
            <p:nvPicPr>
              <p:cNvPr id="1134" name="Ink 1133">
                <a:extLst>
                  <a:ext uri="{FF2B5EF4-FFF2-40B4-BE49-F238E27FC236}">
                    <a16:creationId xmlns:a16="http://schemas.microsoft.com/office/drawing/2014/main" id="{BFD4E63D-D80E-C141-53F2-0EFCDFB531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49340" y="400704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1383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AF51D8-4E0F-5E1A-8EB7-499FD7ACFE23}"/>
              </a:ext>
            </a:extLst>
          </p:cNvPr>
          <p:cNvSpPr/>
          <p:nvPr/>
        </p:nvSpPr>
        <p:spPr>
          <a:xfrm>
            <a:off x="1754462" y="262619"/>
            <a:ext cx="8357419" cy="80624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3200" b="1" dirty="0"/>
              <a:t>The Process of boosting</a:t>
            </a:r>
          </a:p>
        </p:txBody>
      </p:sp>
      <p:pic>
        <p:nvPicPr>
          <p:cNvPr id="2050" name="Picture 2" descr="Comparing Model Ensembling: Bagging, Boosting, and Stacking - NBD Lite #7">
            <a:extLst>
              <a:ext uri="{FF2B5EF4-FFF2-40B4-BE49-F238E27FC236}">
                <a16:creationId xmlns:a16="http://schemas.microsoft.com/office/drawing/2014/main" id="{BC136CF1-1BAF-FB5E-4E99-DBE5AC69B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587" y="1318053"/>
            <a:ext cx="6859029" cy="4785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894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BB6F1-C65D-6C75-B75C-CB6DEB54A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FFC5BCE-D71B-15B0-BCA6-23FADE3A4C14}"/>
              </a:ext>
            </a:extLst>
          </p:cNvPr>
          <p:cNvSpPr/>
          <p:nvPr/>
        </p:nvSpPr>
        <p:spPr>
          <a:xfrm>
            <a:off x="1754462" y="262619"/>
            <a:ext cx="8357419" cy="80624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  <a:latin typeface="Arial" panose="020B0604020202020204" pitchFamily="34" charset="0"/>
              </a:rPr>
              <a:t>Types of Gradient Boosting Algorithms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070287E-34E5-1BF9-A1C4-A86BE3A6EF9A}"/>
              </a:ext>
            </a:extLst>
          </p:cNvPr>
          <p:cNvSpPr/>
          <p:nvPr/>
        </p:nvSpPr>
        <p:spPr>
          <a:xfrm>
            <a:off x="3663646" y="1309817"/>
            <a:ext cx="4539049" cy="708454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</a:rPr>
              <a:t>Vanilla Gradient Boosting (GBM)</a:t>
            </a:r>
            <a:endParaRPr lang="en-US" altLang="en-US" sz="4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1A99E7-1308-D13C-35F6-93F48FD43CF9}"/>
              </a:ext>
            </a:extLst>
          </p:cNvPr>
          <p:cNvSpPr/>
          <p:nvPr/>
        </p:nvSpPr>
        <p:spPr>
          <a:xfrm>
            <a:off x="3663646" y="2393092"/>
            <a:ext cx="4539049" cy="708454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XGBoost (Extreme Gradient Boosting)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DCC84E1-9F40-599A-E1CE-F9A2752B715C}"/>
              </a:ext>
            </a:extLst>
          </p:cNvPr>
          <p:cNvSpPr/>
          <p:nvPr/>
        </p:nvSpPr>
        <p:spPr>
          <a:xfrm>
            <a:off x="3663646" y="3476367"/>
            <a:ext cx="4539049" cy="708454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LightGBM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9088112-F163-41C4-D3E3-24F03BD1175F}"/>
              </a:ext>
            </a:extLst>
          </p:cNvPr>
          <p:cNvSpPr/>
          <p:nvPr/>
        </p:nvSpPr>
        <p:spPr>
          <a:xfrm>
            <a:off x="3663646" y="4485503"/>
            <a:ext cx="4539049" cy="708454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CatBoost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403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4250FDE-D7D1-437D-AFB7-B4C2F45BC123}"/>
              </a:ext>
            </a:extLst>
          </p:cNvPr>
          <p:cNvSpPr/>
          <p:nvPr/>
        </p:nvSpPr>
        <p:spPr>
          <a:xfrm>
            <a:off x="1757972" y="359747"/>
            <a:ext cx="8357419" cy="80624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400" b="1" dirty="0"/>
              <a:t>Applications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086BF6E-4A7F-3F9B-DC14-A83714DB0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401263"/>
              </p:ext>
            </p:extLst>
          </p:nvPr>
        </p:nvGraphicFramePr>
        <p:xfrm>
          <a:off x="838200" y="1828800"/>
          <a:ext cx="10515600" cy="3200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45259">
                  <a:extLst>
                    <a:ext uri="{9D8B030D-6E8A-4147-A177-3AD203B41FA5}">
                      <a16:colId xmlns:a16="http://schemas.microsoft.com/office/drawing/2014/main" val="1585701779"/>
                    </a:ext>
                  </a:extLst>
                </a:gridCol>
                <a:gridCol w="7770341">
                  <a:extLst>
                    <a:ext uri="{9D8B030D-6E8A-4147-A177-3AD203B41FA5}">
                      <a16:colId xmlns:a16="http://schemas.microsoft.com/office/drawing/2014/main" val="21152789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highlight>
                            <a:srgbClr val="FFFF00"/>
                          </a:highlight>
                        </a:rPr>
                        <a:t>Domain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highlight>
                            <a:srgbClr val="FFFF00"/>
                          </a:highlight>
                        </a:rPr>
                        <a:t>Use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845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🛒 E-commerce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Customer segmentation, recommendation engines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974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💳 Finance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Credit scoring, fraud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869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🏥 Healthcare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Disease prediction, patient risk assessment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520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📈 Marketing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Predicting customer churn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0861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📊 Data Science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Kaggle competitions (widely used model)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4806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🔍 Search Engines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Ranking search results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852235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3D0EFB6-C2B5-138C-FCFB-0F05918E6B49}"/>
                  </a:ext>
                </a:extLst>
              </p14:cNvPr>
              <p14:cNvContentPartPr/>
              <p14:nvPr/>
            </p14:nvContentPartPr>
            <p14:xfrm>
              <a:off x="2933340" y="4335720"/>
              <a:ext cx="3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3D0EFB6-C2B5-138C-FCFB-0F05918E6B4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24700" y="432708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8055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5E242-F56A-6A61-927B-ED0E4C578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C0006E0-A41A-2F51-8325-A6F06C95DA42}"/>
              </a:ext>
            </a:extLst>
          </p:cNvPr>
          <p:cNvSpPr/>
          <p:nvPr/>
        </p:nvSpPr>
        <p:spPr>
          <a:xfrm>
            <a:off x="1620320" y="241760"/>
            <a:ext cx="8357419" cy="80624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400" b="1" dirty="0"/>
              <a:t>Code 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348B67-AEC2-A769-CED8-0B8B25C91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707" y="1611732"/>
            <a:ext cx="9937092" cy="2231734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8D3D365-C0E6-57D0-FC67-29D5F897A2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506438"/>
              </p:ext>
            </p:extLst>
          </p:nvPr>
        </p:nvGraphicFramePr>
        <p:xfrm>
          <a:off x="1588936" y="4343582"/>
          <a:ext cx="9014128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758316">
                  <a:extLst>
                    <a:ext uri="{9D8B030D-6E8A-4147-A177-3AD203B41FA5}">
                      <a16:colId xmlns:a16="http://schemas.microsoft.com/office/drawing/2014/main" val="2491343970"/>
                    </a:ext>
                  </a:extLst>
                </a:gridCol>
                <a:gridCol w="5255812">
                  <a:extLst>
                    <a:ext uri="{9D8B030D-6E8A-4147-A177-3AD203B41FA5}">
                      <a16:colId xmlns:a16="http://schemas.microsoft.com/office/drawing/2014/main" val="42660467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highlight>
                            <a:srgbClr val="FFFF00"/>
                          </a:highlight>
                        </a:rPr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2835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n_estimators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Number of trees to build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0799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learning_rate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Controls contribution of each tree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77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max_depth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Maximum depth of each tree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1107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7364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</TotalTime>
  <Words>207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Noor Saeed</dc:creator>
  <cp:lastModifiedBy>Noor Saeed</cp:lastModifiedBy>
  <cp:revision>42</cp:revision>
  <dcterms:created xsi:type="dcterms:W3CDTF">2025-07-06T06:51:20Z</dcterms:created>
  <dcterms:modified xsi:type="dcterms:W3CDTF">2025-09-07T07:30:55Z</dcterms:modified>
</cp:coreProperties>
</file>